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55c6449-f8c5-1717-1974-c1fa67f4d465}">
          <p14:sldIdLst>
            <p14:sldId id="256"/>
            <p14:sldId id="257"/>
          </p14:sldIdLst>
        </p14:section>
        <p14:section name="About SKAB Tech" id="{31aedcee-aaa8-50c3-0788-5be72c0b9222}">
          <p14:sldIdLst>
            <p14:sldId id="258"/>
          </p14:sldIdLst>
        </p14:section>
        <p14:section name="Website Features" id="{a73276a0-6e71-5a64-d2e7-114d39457a66}">
          <p14:sldIdLst>
            <p14:sldId id="259"/>
            <p14:sldId id="260"/>
            <p14:sldId id="261"/>
          </p14:sldIdLst>
        </p14:section>
        <p14:section name="Experience" id="{d172ab73-f414-2e73-0245-7dc1a18b0783}">
          <p14:sldIdLst>
            <p14:sldId id="262"/>
            <p14:sldId id="263"/>
          </p14:sldIdLst>
        </p14:section>
        <p14:section name="Plan &amp; Investment" id="{5a815d86-bc81-41cc-9a8f-2922fe50ab53}">
          <p14:sldIdLst>
            <p14:sldId id="264"/>
            <p14:sldId id="265"/>
            <p14:sldId id="266"/>
            <p14:sldId id="267"/>
          </p14:sldIdLst>
        </p14:section>
        <p14:section name="Close" id="{0138b5cc-968c-56d0-cd42-19aab1f1d917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thanking the client for the opportunity. Purpose of the meeting: show who we are, what a modern training-centre website can do, and agree the next steps, schedule and budget.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the bracketed fields with SKAB Tech's real figures before the meeting: years in business, number of projects, countries served, title and phone number. Adjust the services list to match skabtech.com.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 starting with Professional for launch (bilingual + online registration and payment) and adding the Advanced academy features in phase 2 once the course schedule is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three cards with SKAB Tech's real education / training projects (screenshots work best: Insert &gt; Pictures over the grey frame). If there are no education sites yet, show the closest projects (portals, booking, payments) and explain how they transfer.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Timeline assumes content (course details, photos, trainer bios) arrives by week 3. Content delays are the most common cause of slippage, so agree an owner on your side.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Enter SKAB Tech's prices in the QAR fields before presenting. Payment milestones and the maintenance line are suggestions; edit to match your standard terms.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640080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926080"/>
            <a:ext cx="69494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73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3"/>
                </a:solidFill>
              </a:rPr>
              <a:t>SKAB Tech  |  Website Development Proposal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large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small"/>
          <p:cNvSpPr/>
          <p:nvPr/>
        </p:nvSpPr>
        <p:spPr>
          <a:xfrm>
            <a:off x="7680960" y="3017520"/>
            <a:ext cx="2194560" cy="219456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PROPOSAL  ·  3 OCTOBER 2026</a:t>
            </a:r>
            <a:endParaRPr lang="en-US" sz="12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548640" y="12344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Website Development for Your Management Training Centre, Qatar</a:t>
            </a:r>
            <a:endParaRPr lang="en-US" sz="3400" dirty="0"/>
          </a:p>
        </p:txBody>
      </p:sp>
      <p:sp>
        <p:nvSpPr>
          <p:cNvPr id="6" name="Text 0"/>
          <p:cNvSpPr/>
          <p:nvPr>
            <p:ph idx="101" type="body" hasCustomPrompt="1"/>
          </p:nvPr>
        </p:nvSpPr>
        <p:spPr>
          <a:xfrm>
            <a:off x="548640" y="2926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Presented by SKAB Tech  ·  Muthuraj Ramasamy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agenda</a:t>
            </a:r>
            <a:endParaRPr lang="en-US" sz="2800" dirty="0"/>
          </a:p>
        </p:txBody>
      </p:sp>
      <p:sp>
        <p:nvSpPr>
          <p:cNvPr id="3" name="Agenda card 01"/>
          <p:cNvSpPr/>
          <p:nvPr/>
        </p:nvSpPr>
        <p:spPr>
          <a:xfrm>
            <a:off x="45720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Agenda icon 01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Agenda icon 0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50327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Our profile &amp; company</a:t>
            </a:r>
            <a:endParaRPr lang="en-US" sz="1500" dirty="0"/>
          </a:p>
        </p:txBody>
      </p:sp>
      <p:sp>
        <p:nvSpPr>
          <p:cNvPr id="8" name="Agenda card 02"/>
          <p:cNvSpPr/>
          <p:nvPr/>
        </p:nvSpPr>
        <p:spPr>
          <a:xfrm>
            <a:off x="4663440" y="1188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Agenda icon 02 circle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Agenda icon 0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7994" y="1503274"/>
            <a:ext cx="285293" cy="285293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325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02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1600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Website features: basic to advanced</a:t>
            </a:r>
            <a:endParaRPr lang="en-US" sz="1500" dirty="0"/>
          </a:p>
        </p:txBody>
      </p:sp>
      <p:sp>
        <p:nvSpPr>
          <p:cNvPr id="13" name="Agenda card 03"/>
          <p:cNvSpPr/>
          <p:nvPr/>
        </p:nvSpPr>
        <p:spPr>
          <a:xfrm>
            <a:off x="457200" y="2331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Agenda icon 03 circle"/>
          <p:cNvSpPr/>
          <p:nvPr/>
        </p:nvSpPr>
        <p:spPr>
          <a:xfrm>
            <a:off x="640080" y="2514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Agenda icon 0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754" y="2646274"/>
            <a:ext cx="285293" cy="285293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2588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03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32588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Our experience with education sites</a:t>
            </a:r>
            <a:endParaRPr lang="en-US" sz="1500" dirty="0"/>
          </a:p>
        </p:txBody>
      </p:sp>
      <p:sp>
        <p:nvSpPr>
          <p:cNvPr id="18" name="Agenda card 04"/>
          <p:cNvSpPr/>
          <p:nvPr/>
        </p:nvSpPr>
        <p:spPr>
          <a:xfrm>
            <a:off x="4663440" y="2331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Agenda icon 04 circle"/>
          <p:cNvSpPr/>
          <p:nvPr/>
        </p:nvSpPr>
        <p:spPr>
          <a:xfrm>
            <a:off x="4846320" y="2514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Agenda icon 0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7994" y="2646274"/>
            <a:ext cx="285293" cy="285293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2468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04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743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Details we need from you</a:t>
            </a:r>
            <a:endParaRPr lang="en-US" sz="1500" dirty="0"/>
          </a:p>
        </p:txBody>
      </p:sp>
      <p:sp>
        <p:nvSpPr>
          <p:cNvPr id="23" name="Agenda card 05"/>
          <p:cNvSpPr/>
          <p:nvPr/>
        </p:nvSpPr>
        <p:spPr>
          <a:xfrm>
            <a:off x="45720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Agenda icon 05 circle"/>
          <p:cNvSpPr/>
          <p:nvPr/>
        </p:nvSpPr>
        <p:spPr>
          <a:xfrm>
            <a:off x="640080" y="3657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Agenda icon 0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754" y="37892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2588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05</a:t>
            </a:r>
            <a:endParaRPr lang="en-US" sz="1200" dirty="0"/>
          </a:p>
        </p:txBody>
      </p:sp>
      <p:sp>
        <p:nvSpPr>
          <p:cNvPr id="27" name="Text 20"/>
          <p:cNvSpPr txBox="1"/>
          <p:nvPr/>
        </p:nvSpPr>
        <p:spPr>
          <a:xfrm>
            <a:off x="132588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Project schedule</a:t>
            </a:r>
            <a:endParaRPr lang="en-US" sz="1500" dirty="0"/>
          </a:p>
        </p:txBody>
      </p:sp>
      <p:sp>
        <p:nvSpPr>
          <p:cNvPr id="28" name="Agenda card 06"/>
          <p:cNvSpPr/>
          <p:nvPr/>
        </p:nvSpPr>
        <p:spPr>
          <a:xfrm>
            <a:off x="4663440" y="3474720"/>
            <a:ext cx="402336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Agenda icon 06 circle"/>
          <p:cNvSpPr/>
          <p:nvPr/>
        </p:nvSpPr>
        <p:spPr>
          <a:xfrm>
            <a:off x="4846320" y="3657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Agenda icon 0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7994" y="3789274"/>
            <a:ext cx="285293" cy="285293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32120" y="3611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06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532120" y="3886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Project cost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About SKAB Tech</a:t>
            </a:r>
            <a:endParaRPr lang="en-US" sz="2800" dirty="0"/>
          </a:p>
        </p:txBody>
      </p:sp>
      <p:sp>
        <p:nvSpPr>
          <p:cNvPr id="3" name="Profile card"/>
          <p:cNvSpPr/>
          <p:nvPr/>
        </p:nvSpPr>
        <p:spPr>
          <a:xfrm>
            <a:off x="457200" y="1097280"/>
            <a:ext cx="3291840" cy="347472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Initials circle"/>
          <p:cNvSpPr/>
          <p:nvPr/>
        </p:nvSpPr>
        <p:spPr>
          <a:xfrm>
            <a:off x="1554480" y="1325880"/>
            <a:ext cx="1097280" cy="10972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554480" y="13258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Muthuraj Ramasamy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926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[Founder / Director], SKAB Tech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4290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Muthuraj@skabtech.com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www.skabtech.com</a:t>
            </a:r>
            <a:endParaRPr lang="en-US" sz="12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bg1"/>
                </a:solidFill>
              </a:rPr>
              <a:t>[+91 phone / WhatsApp]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0972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[X]+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years in web &amp; software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669280" y="10972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[X]+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566928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projects delivered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223760" y="109728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[X]</a:t>
            </a:r>
            <a:endParaRPr lang="en-US" sz="3200" dirty="0"/>
          </a:p>
        </p:txBody>
      </p:sp>
      <p:sp>
        <p:nvSpPr>
          <p:cNvPr id="14" name="Text 12"/>
          <p:cNvSpPr txBox="1"/>
          <p:nvPr/>
        </p:nvSpPr>
        <p:spPr>
          <a:xfrm>
            <a:off x="7223760" y="1691640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countries served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114800" y="2331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What we do</a:t>
            </a:r>
            <a:endParaRPr lang="en-US" sz="1600" dirty="0"/>
          </a:p>
        </p:txBody>
      </p:sp>
      <p:sp>
        <p:nvSpPr>
          <p:cNvPr id="16" name="Service icon 1 circle"/>
          <p:cNvSpPr/>
          <p:nvPr/>
        </p:nvSpPr>
        <p:spPr>
          <a:xfrm>
            <a:off x="4114800" y="27432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Service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8193" y="2826593"/>
            <a:ext cx="180685" cy="18068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4617720" y="27432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Custom websites &amp; web applications</a:t>
            </a:r>
            <a:endParaRPr lang="en-US" sz="1400" dirty="0"/>
          </a:p>
        </p:txBody>
      </p:sp>
      <p:sp>
        <p:nvSpPr>
          <p:cNvPr id="19" name="Service icon 2 circle"/>
          <p:cNvSpPr/>
          <p:nvPr/>
        </p:nvSpPr>
        <p:spPr>
          <a:xfrm>
            <a:off x="4114800" y="32004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Service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8193" y="3283793"/>
            <a:ext cx="180685" cy="18068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4617720" y="32004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Responsive, mobile-first design</a:t>
            </a:r>
            <a:endParaRPr lang="en-US" sz="1400" dirty="0"/>
          </a:p>
        </p:txBody>
      </p:sp>
      <p:sp>
        <p:nvSpPr>
          <p:cNvPr id="22" name="Service icon 3 circle"/>
          <p:cNvSpPr/>
          <p:nvPr/>
        </p:nvSpPr>
        <p:spPr>
          <a:xfrm>
            <a:off x="4114800" y="36576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Service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8193" y="3740993"/>
            <a:ext cx="180685" cy="18068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4617720" y="36576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Learning portals &amp; e-learning platforms</a:t>
            </a:r>
            <a:endParaRPr lang="en-US" sz="1400" dirty="0"/>
          </a:p>
        </p:txBody>
      </p:sp>
      <p:sp>
        <p:nvSpPr>
          <p:cNvPr id="25" name="Service icon 4 circle"/>
          <p:cNvSpPr/>
          <p:nvPr/>
        </p:nvSpPr>
        <p:spPr>
          <a:xfrm>
            <a:off x="4114800" y="4114800"/>
            <a:ext cx="347472" cy="34747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Service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193" y="4198193"/>
            <a:ext cx="180685" cy="180685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4617720" y="41148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Hosting, maintenance &amp; support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your website must showcase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A professional, trusted home for your course portfolio, built to turn visitors into enrolled learners.</a:t>
            </a:r>
            <a:endParaRPr lang="en-US" sz="1400" dirty="0"/>
          </a:p>
        </p:txBody>
      </p:sp>
      <p:sp>
        <p:nvSpPr>
          <p:cNvPr id="4" name="Course group 1"/>
          <p:cNvSpPr/>
          <p:nvPr/>
        </p:nvSpPr>
        <p:spPr>
          <a:xfrm>
            <a:off x="457200" y="1508760"/>
            <a:ext cx="2606040" cy="30632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urse group icon 1 circle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Course group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812341"/>
            <a:ext cx="261518" cy="26151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Project &amp; Commercial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7744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Project Management Professional (PMP)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Risk Management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Cost Management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Project Finance Management</a:t>
            </a:r>
            <a:endParaRPr lang="en-US" sz="1300" dirty="0"/>
          </a:p>
        </p:txBody>
      </p:sp>
      <p:sp>
        <p:nvSpPr>
          <p:cNvPr id="9" name="Course group 2"/>
          <p:cNvSpPr/>
          <p:nvPr/>
        </p:nvSpPr>
        <p:spPr>
          <a:xfrm>
            <a:off x="3246120" y="1508760"/>
            <a:ext cx="2606040" cy="30632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ourse group icon 2 circle"/>
          <p:cNvSpPr/>
          <p:nvPr/>
        </p:nvSpPr>
        <p:spPr>
          <a:xfrm>
            <a:off x="342900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Course group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701" y="1812341"/>
            <a:ext cx="261518" cy="26151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Quality, Assets &amp; Safety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3429000" y="237744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Quality Management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Infrastructure Asset Management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Health &amp; Safety in Projects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ISO 9001 &amp; ISO 14001 Lead Auditor</a:t>
            </a:r>
            <a:endParaRPr lang="en-US" sz="1300" dirty="0"/>
          </a:p>
        </p:txBody>
      </p:sp>
      <p:sp>
        <p:nvSpPr>
          <p:cNvPr id="14" name="Course group 3"/>
          <p:cNvSpPr/>
          <p:nvPr/>
        </p:nvSpPr>
        <p:spPr>
          <a:xfrm>
            <a:off x="6035040" y="1508760"/>
            <a:ext cx="2606040" cy="30632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ourse group icon 3 circle"/>
          <p:cNvSpPr/>
          <p:nvPr/>
        </p:nvSpPr>
        <p:spPr>
          <a:xfrm>
            <a:off x="6217920" y="169164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Course group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812341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12280" y="169164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Leadership &amp; People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6217920" y="2377440"/>
            <a:ext cx="22860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Leadership Development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Emotional Intelligence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Corporate &amp; custom programmes</a:t>
            </a:r>
            <a:endParaRPr lang="en-US" sz="130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New courses added anytime via CMS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Features: from essential to advanced</a:t>
            </a:r>
            <a:endParaRPr lang="en-US" sz="2800" dirty="0"/>
          </a:p>
        </p:txBody>
      </p:sp>
      <p:sp>
        <p:nvSpPr>
          <p:cNvPr id="3" name="Tier card ESSENTIAL"/>
          <p:cNvSpPr/>
          <p:nvPr/>
        </p:nvSpPr>
        <p:spPr>
          <a:xfrm>
            <a:off x="45720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ESSENTIAL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Launch-ready website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574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Responsive design for mobile, tablet, desktop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Home, About, Courses, Trainers, Contact pages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Course catalogue with outlines &amp; dates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Enquiry forms + WhatsApp click-to-chat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Google Maps, social links, basic SEO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SSL security &amp; easy content editing (CMS)</a:t>
            </a:r>
            <a:endParaRPr lang="en-US" sz="1200" dirty="0"/>
          </a:p>
        </p:txBody>
      </p:sp>
      <p:sp>
        <p:nvSpPr>
          <p:cNvPr id="7" name="Tier card PROFESSIONAL"/>
          <p:cNvSpPr/>
          <p:nvPr/>
        </p:nvSpPr>
        <p:spPr>
          <a:xfrm>
            <a:off x="324612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29000" y="1188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PROFESSIONAL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42900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 &amp; pay online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574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bg1"/>
                </a:solidFill>
              </a:rPr>
              <a:t>Everything in Essential, plus: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Arabic + English (RTL) bilingual site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Training calendar &amp; online registration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Online payments (local &amp; card gateways)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Corporate group-booking requests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Blog, testimonials, newsletter, analytics</a:t>
            </a:r>
            <a:endParaRPr lang="en-US" sz="1200" dirty="0"/>
          </a:p>
        </p:txBody>
      </p:sp>
      <p:sp>
        <p:nvSpPr>
          <p:cNvPr id="11" name="Tier card ADVANCED"/>
          <p:cNvSpPr/>
          <p:nvPr/>
        </p:nvSpPr>
        <p:spPr>
          <a:xfrm>
            <a:off x="6035040" y="1051560"/>
            <a:ext cx="2606040" cy="35661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1887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ADVANCED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4630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digital academy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17920" y="2057400"/>
            <a:ext cx="22860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Everything in Professional, plus: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Learning portal (LMS) for online / hybrid classes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Student dashboard, materials &amp; quizzes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PMP / ISO mock-exam practice tests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Digital certificates with QR verification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CRM, Zoom/Teams &amp; AI chat assistant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learner journey we will power</a:t>
            </a:r>
            <a:endParaRPr lang="en-US" sz="2800" dirty="0"/>
          </a:p>
        </p:txBody>
      </p:sp>
      <p:sp>
        <p:nvSpPr>
          <p:cNvPr id="3" name="Journey arrow 1"/>
          <p:cNvSpPr/>
          <p:nvPr/>
        </p:nvSpPr>
        <p:spPr>
          <a:xfrm>
            <a:off x="1508760" y="1828800"/>
            <a:ext cx="11338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4" name="Journey icon Discover circle"/>
          <p:cNvSpPr/>
          <p:nvPr/>
        </p:nvSpPr>
        <p:spPr>
          <a:xfrm>
            <a:off x="822960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Journey icon Discover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614830"/>
            <a:ext cx="427939" cy="42793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1. Discover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Finds you on Google, social media or LinkedIn</a:t>
            </a:r>
            <a:endParaRPr lang="en-US" sz="1200" dirty="0"/>
          </a:p>
        </p:txBody>
      </p:sp>
      <p:sp>
        <p:nvSpPr>
          <p:cNvPr id="8" name="Journey arrow 2"/>
          <p:cNvSpPr/>
          <p:nvPr/>
        </p:nvSpPr>
        <p:spPr>
          <a:xfrm>
            <a:off x="3191256" y="1828800"/>
            <a:ext cx="11338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9" name="Journey icon Explore circle"/>
          <p:cNvSpPr/>
          <p:nvPr/>
        </p:nvSpPr>
        <p:spPr>
          <a:xfrm>
            <a:off x="2505456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Journey icon Explor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2966" y="1614830"/>
            <a:ext cx="427939" cy="42793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39696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2. Explore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2185416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Compares course outlines, trainers &amp; dates</a:t>
            </a:r>
            <a:endParaRPr lang="en-US" sz="1200" dirty="0"/>
          </a:p>
        </p:txBody>
      </p:sp>
      <p:sp>
        <p:nvSpPr>
          <p:cNvPr id="13" name="Journey arrow 3"/>
          <p:cNvSpPr/>
          <p:nvPr/>
        </p:nvSpPr>
        <p:spPr>
          <a:xfrm>
            <a:off x="4873752" y="1828800"/>
            <a:ext cx="11338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14" name="Journey icon Enrol &amp; pay circle"/>
          <p:cNvSpPr/>
          <p:nvPr/>
        </p:nvSpPr>
        <p:spPr>
          <a:xfrm>
            <a:off x="4187952" y="141732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Journey icon Enrol &amp; pay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462" y="1614830"/>
            <a:ext cx="427939" cy="42793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22192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3. Enrol &amp; pay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3867912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Registers and pays online in minutes</a:t>
            </a:r>
            <a:endParaRPr lang="en-US" sz="1200" dirty="0"/>
          </a:p>
        </p:txBody>
      </p:sp>
      <p:sp>
        <p:nvSpPr>
          <p:cNvPr id="18" name="Journey arrow 4"/>
          <p:cNvSpPr/>
          <p:nvPr/>
        </p:nvSpPr>
        <p:spPr>
          <a:xfrm>
            <a:off x="6556248" y="1828800"/>
            <a:ext cx="1133856" cy="0"/>
          </a:xfrm>
          <a:prstGeom prst="line">
            <a:avLst/>
          </a:prstGeom>
          <a:noFill/>
          <a:ln w="25400">
            <a:solidFill>
              <a:schemeClr val="accent2"/>
            </a:solidFill>
            <a:prstDash val="dash"/>
            <a:tailEnd type="triangle"/>
          </a:ln>
        </p:spPr>
      </p:sp>
      <p:sp>
        <p:nvSpPr>
          <p:cNvPr id="19" name="Journey icon Learn circle"/>
          <p:cNvSpPr/>
          <p:nvPr/>
        </p:nvSpPr>
        <p:spPr>
          <a:xfrm>
            <a:off x="5870448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Journey icon Lear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7958" y="1614830"/>
            <a:ext cx="427939" cy="42793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04688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4. Learn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5550408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Attends class or online portal with materials</a:t>
            </a:r>
            <a:endParaRPr lang="en-US" sz="1200" dirty="0"/>
          </a:p>
        </p:txBody>
      </p:sp>
      <p:sp>
        <p:nvSpPr>
          <p:cNvPr id="23" name="Journey icon Certify circle"/>
          <p:cNvSpPr/>
          <p:nvPr/>
        </p:nvSpPr>
        <p:spPr>
          <a:xfrm>
            <a:off x="7552944" y="141732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Journey icon Certify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454" y="1614830"/>
            <a:ext cx="427939" cy="427939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187184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5. Certify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7232904" y="278892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Receives a verifiable digital certificate</a:t>
            </a:r>
            <a:endParaRPr lang="en-US" sz="1200" dirty="0"/>
          </a:p>
        </p:txBody>
      </p:sp>
      <p:sp>
        <p:nvSpPr>
          <p:cNvPr id="27" name="Journey benefit panel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Benefit icon circle"/>
          <p:cNvSpPr/>
          <p:nvPr/>
        </p:nvSpPr>
        <p:spPr>
          <a:xfrm>
            <a:off x="640080" y="38862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Benefit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1" y="4006901"/>
            <a:ext cx="261518" cy="261518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325880" y="379476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Behind the scenes: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 admin dashboard shows enquiries, registrations, payments and seat availability for every course batch.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experience with education websites</a:t>
            </a:r>
            <a:endParaRPr lang="en-US" sz="2800" dirty="0"/>
          </a:p>
        </p:txBody>
      </p:sp>
      <p:sp>
        <p:nvSpPr>
          <p:cNvPr id="3" name="Project card 1"/>
          <p:cNvSpPr/>
          <p:nvPr/>
        </p:nvSpPr>
        <p:spPr>
          <a:xfrm>
            <a:off x="457200" y="1097280"/>
            <a:ext cx="2606040" cy="347472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rgbClr val="E3D6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creenshot frame 1"/>
          <p:cNvSpPr/>
          <p:nvPr/>
        </p:nvSpPr>
        <p:spPr>
          <a:xfrm>
            <a:off x="594360" y="1234440"/>
            <a:ext cx="2331720" cy="1143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5" name="Screenshot placeholder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5087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2057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Add website screenshot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[Project name 1]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[Institute / academy, country]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[Course catalogue &amp; online admissions]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[Tech used, e.g. WordPress / Angular]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[Result, e.g. +40% online enquiries]</a:t>
            </a:r>
            <a:endParaRPr lang="en-US" sz="1200" dirty="0"/>
          </a:p>
        </p:txBody>
      </p:sp>
      <p:sp>
        <p:nvSpPr>
          <p:cNvPr id="10" name="Project card 2"/>
          <p:cNvSpPr/>
          <p:nvPr/>
        </p:nvSpPr>
        <p:spPr>
          <a:xfrm>
            <a:off x="3246120" y="1097280"/>
            <a:ext cx="2606040" cy="347472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rgbClr val="E3D6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creenshot frame 2"/>
          <p:cNvSpPr/>
          <p:nvPr/>
        </p:nvSpPr>
        <p:spPr>
          <a:xfrm>
            <a:off x="3383280" y="1234440"/>
            <a:ext cx="2331720" cy="1143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2" name="Screenshot placeholder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5087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383280" y="2057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Add website screenshot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[Project name 2]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[School / training centre, country]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342900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[Student portal / LMS]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[Payment gateway integration]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[Result or client quote]</a:t>
            </a:r>
            <a:endParaRPr lang="en-US" sz="1200" dirty="0"/>
          </a:p>
        </p:txBody>
      </p:sp>
      <p:sp>
        <p:nvSpPr>
          <p:cNvPr id="17" name="Project card 3"/>
          <p:cNvSpPr/>
          <p:nvPr/>
        </p:nvSpPr>
        <p:spPr>
          <a:xfrm>
            <a:off x="6035040" y="1097280"/>
            <a:ext cx="2606040" cy="3474720"/>
          </a:xfrm>
          <a:prstGeom prst="roundRect">
            <a:avLst>
              <a:gd name="adj" fmla="val 2807"/>
            </a:avLst>
          </a:prstGeom>
          <a:solidFill>
            <a:schemeClr val="bg1"/>
          </a:solidFill>
          <a:ln w="12700">
            <a:solidFill>
              <a:srgbClr val="E3D6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creenshot frame 3"/>
          <p:cNvSpPr/>
          <p:nvPr/>
        </p:nvSpPr>
        <p:spPr>
          <a:xfrm>
            <a:off x="6172200" y="1234440"/>
            <a:ext cx="2331720" cy="1143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9" name="Screenshot placeholder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087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172200" y="2057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Add website screenshot</a:t>
            </a:r>
            <a:endParaRPr lang="en-US" sz="10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5146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[Project name 3]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217920" y="28346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[Client type, country]</a:t>
            </a:r>
            <a:endParaRPr lang="en-US" sz="1100" dirty="0"/>
          </a:p>
        </p:txBody>
      </p:sp>
      <p:sp>
        <p:nvSpPr>
          <p:cNvPr id="23" name="Text 18"/>
          <p:cNvSpPr txBox="1"/>
          <p:nvPr/>
        </p:nvSpPr>
        <p:spPr>
          <a:xfrm>
            <a:off x="6217920" y="320040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[Key feature delivered]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[Bilingual / mobile app / etc.]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[Launch year &amp; URL]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Technology, security &amp; growth</a:t>
            </a:r>
            <a:endParaRPr lang="en-US" sz="2800" dirty="0"/>
          </a:p>
        </p:txBody>
      </p:sp>
      <p:sp>
        <p:nvSpPr>
          <p:cNvPr id="3" name="Tech icon 1 circle"/>
          <p:cNvSpPr/>
          <p:nvPr/>
        </p:nvSpPr>
        <p:spPr>
          <a:xfrm>
            <a:off x="457200" y="11887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4" name="Tech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" y="1331366"/>
            <a:ext cx="309067" cy="309067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Modern, proven stack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34440" y="1472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WordPress or custom Angular / Node, chosen to fit your team and budget</a:t>
            </a:r>
            <a:endParaRPr lang="en-US" sz="1200" dirty="0"/>
          </a:p>
        </p:txBody>
      </p:sp>
      <p:sp>
        <p:nvSpPr>
          <p:cNvPr id="7" name="Tech icon 2 circle"/>
          <p:cNvSpPr/>
          <p:nvPr/>
        </p:nvSpPr>
        <p:spPr>
          <a:xfrm>
            <a:off x="4663440" y="1188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Tech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086" y="1331366"/>
            <a:ext cx="309067" cy="30906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143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Arabic &amp; English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5440680" y="1472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True right-to-left layouts, not machine-translated pages</a:t>
            </a:r>
            <a:endParaRPr lang="en-US" sz="1200" dirty="0"/>
          </a:p>
        </p:txBody>
      </p:sp>
      <p:sp>
        <p:nvSpPr>
          <p:cNvPr id="11" name="Tech icon 3 circle"/>
          <p:cNvSpPr/>
          <p:nvPr/>
        </p:nvSpPr>
        <p:spPr>
          <a:xfrm>
            <a:off x="457200" y="2331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Tech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846" y="2474366"/>
            <a:ext cx="309067" cy="30906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3444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Secure by design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34440" y="2615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SSL, daily backups, spam protection, data handled per Qatar's PDPPL</a:t>
            </a:r>
            <a:endParaRPr lang="en-US" sz="1200" dirty="0"/>
          </a:p>
        </p:txBody>
      </p:sp>
      <p:sp>
        <p:nvSpPr>
          <p:cNvPr id="15" name="Tech icon 4 circle"/>
          <p:cNvSpPr/>
          <p:nvPr/>
        </p:nvSpPr>
        <p:spPr>
          <a:xfrm>
            <a:off x="4663440" y="233172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Tech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6086" y="2474366"/>
            <a:ext cx="309067" cy="30906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44068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Found on Google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5440680" y="2615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SEO-ready pages, Google Business profile, fast loading on mobile</a:t>
            </a:r>
            <a:endParaRPr lang="en-US" sz="1200" dirty="0"/>
          </a:p>
        </p:txBody>
      </p:sp>
      <p:sp>
        <p:nvSpPr>
          <p:cNvPr id="19" name="Tech icon 5 circle"/>
          <p:cNvSpPr/>
          <p:nvPr/>
        </p:nvSpPr>
        <p:spPr>
          <a:xfrm>
            <a:off x="457200" y="3474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Tech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846" y="3617366"/>
            <a:ext cx="309067" cy="309067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23444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Reliable hosting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1234440" y="3758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Cloud hosting with uptime monitoring and a CDN for GCC visitors</a:t>
            </a:r>
            <a:endParaRPr lang="en-US" sz="1200" dirty="0"/>
          </a:p>
        </p:txBody>
      </p:sp>
      <p:sp>
        <p:nvSpPr>
          <p:cNvPr id="23" name="Tech icon 6 circle"/>
          <p:cNvSpPr/>
          <p:nvPr/>
        </p:nvSpPr>
        <p:spPr>
          <a:xfrm>
            <a:off x="4663440" y="34747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4" name="Tech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6086" y="3617366"/>
            <a:ext cx="309067" cy="30906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440680" y="3429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Ongoing support</a:t>
            </a:r>
            <a:endParaRPr lang="en-US" sz="1500" dirty="0"/>
          </a:p>
        </p:txBody>
      </p:sp>
      <p:sp>
        <p:nvSpPr>
          <p:cNvPr id="26" name="Text 18"/>
          <p:cNvSpPr txBox="1"/>
          <p:nvPr/>
        </p:nvSpPr>
        <p:spPr>
          <a:xfrm>
            <a:off x="5440680" y="3758184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Training for your staff, plus an annual maintenance plan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Need card 1"/>
          <p:cNvSpPr/>
          <p:nvPr/>
        </p:nvSpPr>
        <p:spPr>
          <a:xfrm>
            <a:off x="457200" y="105156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Need icon 1 circle"/>
          <p:cNvSpPr/>
          <p:nvPr/>
        </p:nvSpPr>
        <p:spPr>
          <a:xfrm>
            <a:off x="59436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Need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1309421"/>
            <a:ext cx="261518" cy="2615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34440" y="1124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Brand identity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234440" y="13990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Centre name, logo, colours, tagline (or we design them)</a:t>
            </a:r>
            <a:endParaRPr lang="en-US" sz="1100" dirty="0"/>
          </a:p>
        </p:txBody>
      </p:sp>
      <p:sp>
        <p:nvSpPr>
          <p:cNvPr id="8" name="Need card 2"/>
          <p:cNvSpPr/>
          <p:nvPr/>
        </p:nvSpPr>
        <p:spPr>
          <a:xfrm>
            <a:off x="4663440" y="1051560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Need icon 2 circle"/>
          <p:cNvSpPr/>
          <p:nvPr/>
        </p:nvSpPr>
        <p:spPr>
          <a:xfrm>
            <a:off x="4800600" y="118872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Need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1301" y="1309421"/>
            <a:ext cx="261518" cy="26151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440680" y="112471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Course details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5440680" y="1399032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Outline, duration, fees, schedule, prerequisites for each course</a:t>
            </a:r>
            <a:endParaRPr lang="en-US" sz="1100" dirty="0"/>
          </a:p>
        </p:txBody>
      </p:sp>
      <p:sp>
        <p:nvSpPr>
          <p:cNvPr id="13" name="Need card 3"/>
          <p:cNvSpPr/>
          <p:nvPr/>
        </p:nvSpPr>
        <p:spPr>
          <a:xfrm>
            <a:off x="457200" y="1947672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Need icon 3 circle"/>
          <p:cNvSpPr/>
          <p:nvPr/>
        </p:nvSpPr>
        <p:spPr>
          <a:xfrm>
            <a:off x="594360" y="20848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Need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2205533"/>
            <a:ext cx="261518" cy="26151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34440" y="20208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Accreditations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1234440" y="22951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PMI, IRCA / Exemplar Global, MoEHE approvals &amp; partner logos</a:t>
            </a:r>
            <a:endParaRPr lang="en-US" sz="1100" dirty="0"/>
          </a:p>
        </p:txBody>
      </p:sp>
      <p:sp>
        <p:nvSpPr>
          <p:cNvPr id="18" name="Need card 4"/>
          <p:cNvSpPr/>
          <p:nvPr/>
        </p:nvSpPr>
        <p:spPr>
          <a:xfrm>
            <a:off x="4663440" y="1947672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Need icon 4 circle"/>
          <p:cNvSpPr/>
          <p:nvPr/>
        </p:nvSpPr>
        <p:spPr>
          <a:xfrm>
            <a:off x="4800600" y="2084832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Need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301" y="2205533"/>
            <a:ext cx="261518" cy="26151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440680" y="2020824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Trainer profiles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440680" y="2295144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Photos, bios, qualifications of each trainer</a:t>
            </a:r>
            <a:endParaRPr lang="en-US" sz="1100" dirty="0"/>
          </a:p>
        </p:txBody>
      </p:sp>
      <p:sp>
        <p:nvSpPr>
          <p:cNvPr id="23" name="Need card 5"/>
          <p:cNvSpPr/>
          <p:nvPr/>
        </p:nvSpPr>
        <p:spPr>
          <a:xfrm>
            <a:off x="457200" y="2843784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Need icon 5 circle"/>
          <p:cNvSpPr/>
          <p:nvPr/>
        </p:nvSpPr>
        <p:spPr>
          <a:xfrm>
            <a:off x="594360" y="29809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Need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061" y="3101645"/>
            <a:ext cx="261518" cy="26151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234440" y="29169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Photos &amp; media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1234440" y="31912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Venue, classroom and event photos or videos</a:t>
            </a:r>
            <a:endParaRPr lang="en-US" sz="1100" dirty="0"/>
          </a:p>
        </p:txBody>
      </p:sp>
      <p:sp>
        <p:nvSpPr>
          <p:cNvPr id="28" name="Need card 6"/>
          <p:cNvSpPr/>
          <p:nvPr/>
        </p:nvSpPr>
        <p:spPr>
          <a:xfrm>
            <a:off x="4663440" y="2843784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Need icon 6 circle"/>
          <p:cNvSpPr/>
          <p:nvPr/>
        </p:nvSpPr>
        <p:spPr>
          <a:xfrm>
            <a:off x="4800600" y="2980944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Need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21301" y="3101645"/>
            <a:ext cx="261518" cy="261518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440680" y="29169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Domain &amp; hosting</a:t>
            </a:r>
            <a:endParaRPr lang="en-US" sz="1400" dirty="0"/>
          </a:p>
        </p:txBody>
      </p:sp>
      <p:sp>
        <p:nvSpPr>
          <p:cNvPr id="32" name="Text 24"/>
          <p:cNvSpPr txBox="1"/>
          <p:nvPr/>
        </p:nvSpPr>
        <p:spPr>
          <a:xfrm>
            <a:off x="5440680" y="3191256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Preferred domain (.qa / .com) and any existing accounts</a:t>
            </a:r>
            <a:endParaRPr lang="en-US" sz="1100" dirty="0"/>
          </a:p>
        </p:txBody>
      </p:sp>
      <p:sp>
        <p:nvSpPr>
          <p:cNvPr id="33" name="Need card 7"/>
          <p:cNvSpPr/>
          <p:nvPr/>
        </p:nvSpPr>
        <p:spPr>
          <a:xfrm>
            <a:off x="457200" y="3739896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4" name="Need icon 7 circle"/>
          <p:cNvSpPr/>
          <p:nvPr/>
        </p:nvSpPr>
        <p:spPr>
          <a:xfrm>
            <a:off x="594360" y="387705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5" name="Need icon 7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1" y="3997757"/>
            <a:ext cx="261518" cy="261518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234440" y="38130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Payment gateway</a:t>
            </a:r>
            <a:endParaRPr lang="en-US" sz="1400" dirty="0"/>
          </a:p>
        </p:txBody>
      </p:sp>
      <p:sp>
        <p:nvSpPr>
          <p:cNvPr id="37" name="Text 28"/>
          <p:cNvSpPr txBox="1"/>
          <p:nvPr/>
        </p:nvSpPr>
        <p:spPr>
          <a:xfrm>
            <a:off x="1234440" y="40873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Bank / gateway merchant account for online fees</a:t>
            </a:r>
            <a:endParaRPr lang="en-US" sz="1100" dirty="0"/>
          </a:p>
        </p:txBody>
      </p:sp>
      <p:sp>
        <p:nvSpPr>
          <p:cNvPr id="38" name="Need card 8"/>
          <p:cNvSpPr/>
          <p:nvPr/>
        </p:nvSpPr>
        <p:spPr>
          <a:xfrm>
            <a:off x="4663440" y="3739896"/>
            <a:ext cx="402336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9" name="Need icon 8 circle"/>
          <p:cNvSpPr/>
          <p:nvPr/>
        </p:nvSpPr>
        <p:spPr>
          <a:xfrm>
            <a:off x="4800600" y="3877056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Need icon 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1301" y="3997757"/>
            <a:ext cx="261518" cy="261518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5440680" y="38130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Policies &amp; contacts</a:t>
            </a:r>
            <a:endParaRPr lang="en-US" sz="1400" dirty="0"/>
          </a:p>
        </p:txBody>
      </p:sp>
      <p:sp>
        <p:nvSpPr>
          <p:cNvPr id="42" name="Text 32"/>
          <p:cNvSpPr txBox="1"/>
          <p:nvPr/>
        </p:nvSpPr>
        <p:spPr>
          <a:xfrm>
            <a:off x="5440680" y="4087368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Refund, privacy, terms; address, phone, email, socials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schedule: live in about 10 weeks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2834640" y="1005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W1</a:t>
            </a:r>
            <a:endParaRPr lang="en-US" sz="1000" dirty="0"/>
          </a:p>
        </p:txBody>
      </p:sp>
      <p:sp>
        <p:nvSpPr>
          <p:cNvPr id="4" name="Week band 1"/>
          <p:cNvSpPr/>
          <p:nvPr/>
        </p:nvSpPr>
        <p:spPr>
          <a:xfrm>
            <a:off x="2834640" y="1325880"/>
            <a:ext cx="585216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419856" y="1005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W2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005072" y="1005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W3</a:t>
            </a:r>
            <a:endParaRPr lang="en-US" sz="1000" dirty="0"/>
          </a:p>
        </p:txBody>
      </p:sp>
      <p:sp>
        <p:nvSpPr>
          <p:cNvPr id="7" name="Week band 3"/>
          <p:cNvSpPr/>
          <p:nvPr/>
        </p:nvSpPr>
        <p:spPr>
          <a:xfrm>
            <a:off x="4005072" y="1325880"/>
            <a:ext cx="585216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90288" y="1005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W4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175504" y="1005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W5</a:t>
            </a:r>
            <a:endParaRPr lang="en-US" sz="1000" dirty="0"/>
          </a:p>
        </p:txBody>
      </p:sp>
      <p:sp>
        <p:nvSpPr>
          <p:cNvPr id="10" name="Week band 5"/>
          <p:cNvSpPr/>
          <p:nvPr/>
        </p:nvSpPr>
        <p:spPr>
          <a:xfrm>
            <a:off x="5175504" y="1325880"/>
            <a:ext cx="585216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760720" y="1005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W6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345936" y="1005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W7</a:t>
            </a:r>
            <a:endParaRPr lang="en-US" sz="1000" dirty="0"/>
          </a:p>
        </p:txBody>
      </p:sp>
      <p:sp>
        <p:nvSpPr>
          <p:cNvPr id="13" name="Week band 7"/>
          <p:cNvSpPr/>
          <p:nvPr/>
        </p:nvSpPr>
        <p:spPr>
          <a:xfrm>
            <a:off x="6345936" y="1325880"/>
            <a:ext cx="585216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31152" y="1005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W8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516368" y="1005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W9</a:t>
            </a:r>
            <a:endParaRPr lang="en-US" sz="1000" dirty="0"/>
          </a:p>
        </p:txBody>
      </p:sp>
      <p:sp>
        <p:nvSpPr>
          <p:cNvPr id="16" name="Week band 9"/>
          <p:cNvSpPr/>
          <p:nvPr/>
        </p:nvSpPr>
        <p:spPr>
          <a:xfrm>
            <a:off x="7516368" y="1325880"/>
            <a:ext cx="585216" cy="310896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01584" y="10058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W10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Discovery &amp; sitemap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16367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Requirements, content plan</a:t>
            </a:r>
            <a:endParaRPr lang="en-US" sz="1000" dirty="0"/>
          </a:p>
        </p:txBody>
      </p:sp>
      <p:sp>
        <p:nvSpPr>
          <p:cNvPr id="20" name="Gantt bar Discovery &amp; sitemap"/>
          <p:cNvSpPr/>
          <p:nvPr/>
        </p:nvSpPr>
        <p:spPr>
          <a:xfrm>
            <a:off x="2871216" y="1472184"/>
            <a:ext cx="512064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UI/UX design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21396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Mock-ups, your approval</a:t>
            </a:r>
            <a:endParaRPr lang="en-US" sz="1000" dirty="0"/>
          </a:p>
        </p:txBody>
      </p:sp>
      <p:sp>
        <p:nvSpPr>
          <p:cNvPr id="23" name="Gantt bar UI/UX design"/>
          <p:cNvSpPr/>
          <p:nvPr/>
        </p:nvSpPr>
        <p:spPr>
          <a:xfrm>
            <a:off x="3456432" y="1975104"/>
            <a:ext cx="10972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7200" y="2423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Development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264261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Pages, CMS, registration</a:t>
            </a:r>
            <a:endParaRPr lang="en-US" sz="1000" dirty="0"/>
          </a:p>
        </p:txBody>
      </p:sp>
      <p:sp>
        <p:nvSpPr>
          <p:cNvPr id="26" name="Gantt bar Development"/>
          <p:cNvSpPr/>
          <p:nvPr/>
        </p:nvSpPr>
        <p:spPr>
          <a:xfrm>
            <a:off x="4041648" y="2478024"/>
            <a:ext cx="2852928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29260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Integrations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314553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Payments, bilingual, forms</a:t>
            </a:r>
            <a:endParaRPr lang="en-US" sz="1000" dirty="0"/>
          </a:p>
        </p:txBody>
      </p:sp>
      <p:sp>
        <p:nvSpPr>
          <p:cNvPr id="29" name="Gantt bar Integrations"/>
          <p:cNvSpPr/>
          <p:nvPr/>
        </p:nvSpPr>
        <p:spPr>
          <a:xfrm>
            <a:off x="5797296" y="2980944"/>
            <a:ext cx="10972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7200" y="34290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Content &amp; testing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64845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Upload, QA, devices, speed</a:t>
            </a:r>
            <a:endParaRPr lang="en-US" sz="1000" dirty="0"/>
          </a:p>
        </p:txBody>
      </p:sp>
      <p:sp>
        <p:nvSpPr>
          <p:cNvPr id="32" name="Gantt bar Content &amp; testing"/>
          <p:cNvSpPr/>
          <p:nvPr/>
        </p:nvSpPr>
        <p:spPr>
          <a:xfrm>
            <a:off x="6967728" y="3483864"/>
            <a:ext cx="10972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7200" y="3931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Launch &amp; training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15137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Go-live, staff handover</a:t>
            </a:r>
            <a:endParaRPr lang="en-US" sz="1000" dirty="0"/>
          </a:p>
        </p:txBody>
      </p:sp>
      <p:sp>
        <p:nvSpPr>
          <p:cNvPr id="35" name="Gantt bar Launch &amp; training"/>
          <p:cNvSpPr/>
          <p:nvPr/>
        </p:nvSpPr>
        <p:spPr>
          <a:xfrm>
            <a:off x="8138160" y="3986784"/>
            <a:ext cx="512064" cy="310896"/>
          </a:xfrm>
          <a:prstGeom prst="roundRect">
            <a:avLst>
              <a:gd name="adj" fmla="val 23529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4462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Professional package shown. Essential: ~4–5 weeks. Advanced academy (LMS): +6–8 weeks as phase 2.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options</a:t>
            </a:r>
            <a:endParaRPr lang="en-US" sz="2800" dirty="0"/>
          </a:p>
        </p:txBody>
      </p:sp>
      <p:sp>
        <p:nvSpPr>
          <p:cNvPr id="3" name="Price card Essential"/>
          <p:cNvSpPr/>
          <p:nvPr/>
        </p:nvSpPr>
        <p:spPr>
          <a:xfrm>
            <a:off x="457200" y="114300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Essential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QAR [ ____ ]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~4–5 weeks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974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Up to 10 pages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Course catalogue &amp; enquiry forms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Basic SEO, SSL, CMS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1 year hosting &amp; domain</a:t>
            </a:r>
            <a:endParaRPr lang="en-US" sz="1200" dirty="0"/>
          </a:p>
        </p:txBody>
      </p:sp>
      <p:sp>
        <p:nvSpPr>
          <p:cNvPr id="8" name="Price card Professional"/>
          <p:cNvSpPr/>
          <p:nvPr/>
        </p:nvSpPr>
        <p:spPr>
          <a:xfrm>
            <a:off x="3246120" y="1005840"/>
            <a:ext cx="2606040" cy="3246120"/>
          </a:xfrm>
          <a:prstGeom prst="roundRect">
            <a:avLst>
              <a:gd name="adj" fmla="val 2807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14300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2"/>
                </a:solidFill>
              </a:rPr>
              <a:t>RECOMMENDED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37160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Professional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29000" y="17830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QAR [ ____ ]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21945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bg1"/>
                </a:solidFill>
              </a:rPr>
              <a:t>~10 weeks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429000" y="256032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Everything in Essential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Arabic + English site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Online registration &amp; payments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Calendar, blog, analytics</a:t>
            </a:r>
            <a:endParaRPr lang="en-US" sz="1200" dirty="0"/>
          </a:p>
        </p:txBody>
      </p:sp>
      <p:sp>
        <p:nvSpPr>
          <p:cNvPr id="14" name="Price card Advanced"/>
          <p:cNvSpPr/>
          <p:nvPr/>
        </p:nvSpPr>
        <p:spPr>
          <a:xfrm>
            <a:off x="6035040" y="1143000"/>
            <a:ext cx="2606040" cy="310896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15087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QAR [ ____ ]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233172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+6–8 weeks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697480"/>
            <a:ext cx="2286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Everything in Professional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LMS &amp; student portal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Mock exams &amp; QR certificates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CRM &amp; Zoom/Teams integration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Payment terms: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40% start · 40% design &amp; build sign-off · 20% launch   |   Maintenance: QAR [ ____ ] / year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SKAB Tech, and next steps</a:t>
            </a:r>
            <a:endParaRPr lang="en-US" sz="2800" dirty="0"/>
          </a:p>
        </p:txBody>
      </p:sp>
      <p:sp>
        <p:nvSpPr>
          <p:cNvPr id="3" name="Why icon 1 circle"/>
          <p:cNvSpPr/>
          <p:nvPr/>
        </p:nvSpPr>
        <p:spPr>
          <a:xfrm>
            <a:off x="457200" y="114300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Why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819" y="1296619"/>
            <a:ext cx="332842" cy="3328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1612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partner, end to end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49047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Design, build, hosting, support</a:t>
            </a:r>
            <a:endParaRPr lang="en-US" sz="1200" dirty="0"/>
          </a:p>
        </p:txBody>
      </p:sp>
      <p:sp>
        <p:nvSpPr>
          <p:cNvPr id="7" name="Why icon 2 circle"/>
          <p:cNvSpPr/>
          <p:nvPr/>
        </p:nvSpPr>
        <p:spPr>
          <a:xfrm>
            <a:off x="457200" y="224028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8" name="Why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819" y="239389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2585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Education-focused thinking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587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Built to convert visitors into learners</a:t>
            </a:r>
            <a:endParaRPr lang="en-US" sz="1200" dirty="0"/>
          </a:p>
        </p:txBody>
      </p:sp>
      <p:sp>
        <p:nvSpPr>
          <p:cNvPr id="11" name="Why icon 3 circle"/>
          <p:cNvSpPr/>
          <p:nvPr/>
        </p:nvSpPr>
        <p:spPr>
          <a:xfrm>
            <a:off x="457200" y="33375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Why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19" y="349117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3558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Grows with you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6850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Start lean, add the academy later</a:t>
            </a:r>
            <a:endParaRPr lang="en-US" sz="1200" dirty="0"/>
          </a:p>
        </p:txBody>
      </p:sp>
      <p:sp>
        <p:nvSpPr>
          <p:cNvPr id="15" name="Next steps panel"/>
          <p:cNvSpPr/>
          <p:nvPr/>
        </p:nvSpPr>
        <p:spPr>
          <a:xfrm>
            <a:off x="4663440" y="1097280"/>
            <a:ext cx="4023360" cy="3474720"/>
          </a:xfrm>
          <a:prstGeom prst="roundRect">
            <a:avLst>
              <a:gd name="adj" fmla="val 2632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2000" dirty="0"/>
          </a:p>
        </p:txBody>
      </p:sp>
      <p:sp>
        <p:nvSpPr>
          <p:cNvPr id="17" name="Step number 1"/>
          <p:cNvSpPr/>
          <p:nvPr/>
        </p:nvSpPr>
        <p:spPr>
          <a:xfrm>
            <a:off x="4937760" y="182880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493776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5532120" y="18288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Confirm the package that fits your launch</a:t>
            </a:r>
            <a:endParaRPr lang="en-US" sz="1300" dirty="0"/>
          </a:p>
        </p:txBody>
      </p:sp>
      <p:sp>
        <p:nvSpPr>
          <p:cNvPr id="20" name="Step number 2"/>
          <p:cNvSpPr/>
          <p:nvPr/>
        </p:nvSpPr>
        <p:spPr>
          <a:xfrm>
            <a:off x="4937760" y="246888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49377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532120" y="24688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Share brand, course &amp; trainer details</a:t>
            </a:r>
            <a:endParaRPr lang="en-US" sz="1300" dirty="0"/>
          </a:p>
        </p:txBody>
      </p:sp>
      <p:sp>
        <p:nvSpPr>
          <p:cNvPr id="23" name="Step number 3"/>
          <p:cNvSpPr/>
          <p:nvPr/>
        </p:nvSpPr>
        <p:spPr>
          <a:xfrm>
            <a:off x="4937760" y="310896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937760" y="3108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25" name="Text 20"/>
          <p:cNvSpPr txBox="1"/>
          <p:nvPr/>
        </p:nvSpPr>
        <p:spPr>
          <a:xfrm>
            <a:off x="553212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Sign proposal &amp; first milestone</a:t>
            </a:r>
            <a:endParaRPr lang="en-US" sz="1300" dirty="0"/>
          </a:p>
        </p:txBody>
      </p:sp>
      <p:sp>
        <p:nvSpPr>
          <p:cNvPr id="26" name="Step number 4"/>
          <p:cNvSpPr/>
          <p:nvPr/>
        </p:nvSpPr>
        <p:spPr>
          <a:xfrm>
            <a:off x="4937760" y="3749040"/>
            <a:ext cx="411480" cy="4114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4937760" y="3749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532120" y="3749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Kick-off workshop in week 1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73168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otif circle large"/>
          <p:cNvSpPr/>
          <p:nvPr/>
        </p:nvSpPr>
        <p:spPr>
          <a:xfrm>
            <a:off x="6675120" y="-1097280"/>
            <a:ext cx="3840480" cy="3840480"/>
          </a:xfrm>
          <a:prstGeom prst="ellipse">
            <a:avLst/>
          </a:prstGeom>
          <a:solidFill>
            <a:schemeClr val="accent1">
              <a:alpha val="65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" name="Motif circle small"/>
          <p:cNvSpPr/>
          <p:nvPr/>
        </p:nvSpPr>
        <p:spPr>
          <a:xfrm>
            <a:off x="7680960" y="3017520"/>
            <a:ext cx="2194560" cy="2194560"/>
          </a:xfrm>
          <a:prstGeom prst="ellipse">
            <a:avLst/>
          </a:prstGeom>
          <a:solidFill>
            <a:schemeClr val="accent2">
              <a:alpha val="20000"/>
            </a:schemeClr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34440"/>
            <a:ext cx="6400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9260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Questions &amp; discussion</a:t>
            </a:r>
            <a:endParaRPr lang="en-US" sz="1600" dirty="0"/>
          </a:p>
        </p:txBody>
      </p:sp>
      <p:sp>
        <p:nvSpPr>
          <p:cNvPr id="6" name="Contact icon 1 circle"/>
          <p:cNvSpPr/>
          <p:nvPr/>
        </p:nvSpPr>
        <p:spPr>
          <a:xfrm>
            <a:off x="548640" y="3886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Contact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395" y="3984955"/>
            <a:ext cx="213970" cy="21397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1560" y="3886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Muthuraj@skabtech.com</a:t>
            </a:r>
            <a:endParaRPr lang="en-US" sz="1100" dirty="0"/>
          </a:p>
        </p:txBody>
      </p:sp>
      <p:sp>
        <p:nvSpPr>
          <p:cNvPr id="9" name="Contact icon 2 circle"/>
          <p:cNvSpPr/>
          <p:nvPr/>
        </p:nvSpPr>
        <p:spPr>
          <a:xfrm>
            <a:off x="2880360" y="3886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Contact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9115" y="3984955"/>
            <a:ext cx="213970" cy="21397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3886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www.skabtech.com</a:t>
            </a:r>
            <a:endParaRPr lang="en-US" sz="1100" dirty="0"/>
          </a:p>
        </p:txBody>
      </p:sp>
      <p:sp>
        <p:nvSpPr>
          <p:cNvPr id="12" name="Contact icon 3 circle"/>
          <p:cNvSpPr/>
          <p:nvPr/>
        </p:nvSpPr>
        <p:spPr>
          <a:xfrm>
            <a:off x="5212080" y="3886200"/>
            <a:ext cx="411480" cy="4114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Contact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0835" y="3984955"/>
            <a:ext cx="213970" cy="21397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715000" y="38862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[+91 phone / WhatsApp]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AB Tech Proposal">
  <a:themeElements>
    <a:clrScheme name="SKAB Tech Proposal">
      <a:dk1>
        <a:srgbClr val="222222"/>
      </a:dk1>
      <a:lt1>
        <a:srgbClr val="FFFFFF"/>
      </a:lt1>
      <a:dk2>
        <a:srgbClr val="4A0F22"/>
      </a:dk2>
      <a:lt2>
        <a:srgbClr val="F6EEF1"/>
      </a:lt2>
      <a:accent1>
        <a:srgbClr val="7A1C3A"/>
      </a:accent1>
      <a:accent2>
        <a:srgbClr val="C9A227"/>
      </a:accent2>
      <a:accent3>
        <a:srgbClr val="5F5F66"/>
      </a:accent3>
      <a:accent4>
        <a:srgbClr val="2F6F73"/>
      </a:accent4>
      <a:accent5>
        <a:srgbClr val="B5838D"/>
      </a:accent5>
      <a:accent6>
        <a:srgbClr val="8C6D1F"/>
      </a:accent6>
      <a:hlink>
        <a:srgbClr val="7A1C3A"/>
      </a:hlink>
      <a:folHlink>
        <a:srgbClr val="5F5F66"/>
      </a:folHlink>
    </a:clrScheme>
    <a:fontScheme name="SKAB Tech Propos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SKAB Tech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Website Development Proposal - Management Training Centre, Qatar</dc:title>
  <dc:subject>PptxGenJS Presentation</dc:subject>
  <dc:creator>SKAB Tech</dc:creator>
  <cp:lastModifiedBy>SKAB Tech</cp:lastModifiedBy>
  <cp:revision>1</cp:revision>
  <dcterms:created xsi:type="dcterms:W3CDTF">2026-10-03T05:33:43Z</dcterms:created>
  <dcterms:modified xsi:type="dcterms:W3CDTF">2026-10-03T05:33:43Z</dcterms:modified>
</cp:coreProperties>
</file>